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9d1dd38bf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9d1dd38b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9d1dd38bf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9d1dd38bf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9d1dd38bf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9d1dd38bf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9d3abd094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9d3abd094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d1dd38bf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9d1dd38bf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9d1dd38bf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9d1dd38bf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d1dd38bf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d1dd38bf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9d3abd094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9d3abd094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d3abd094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9d3abd094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9d3abd094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9d3abd094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d3abd094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9d3abd094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d3abd094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9d3abd094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d3abd094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d3abd094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d3abd094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d3abd094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9d1dd38bf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9d1dd38bf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d1dd38bf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9d1dd38bf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2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6.png"/><Relationship Id="rId11" Type="http://schemas.openxmlformats.org/officeDocument/2006/relationships/image" Target="../media/image2.png"/><Relationship Id="rId10" Type="http://schemas.openxmlformats.org/officeDocument/2006/relationships/image" Target="../media/image9.png"/><Relationship Id="rId9"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5.png"/><Relationship Id="rId8"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gif"/><Relationship Id="rId4" Type="http://schemas.openxmlformats.org/officeDocument/2006/relationships/image" Target="../media/image13.png"/><Relationship Id="rId5" Type="http://schemas.openxmlformats.org/officeDocument/2006/relationships/image" Target="../media/image23.gif"/><Relationship Id="rId6" Type="http://schemas.openxmlformats.org/officeDocument/2006/relationships/image" Target="../media/image20.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Website Style Guide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 guide to the style choices for my portfolio website                 </a:t>
            </a:r>
            <a:endParaRPr/>
          </a:p>
        </p:txBody>
      </p:sp>
      <p:sp>
        <p:nvSpPr>
          <p:cNvPr id="56" name="Google Shape;56;p13"/>
          <p:cNvSpPr/>
          <p:nvPr/>
        </p:nvSpPr>
        <p:spPr>
          <a:xfrm>
            <a:off x="-106575" y="-71775"/>
            <a:ext cx="9252900" cy="326100"/>
          </a:xfrm>
          <a:prstGeom prst="rect">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3"/>
          <p:cNvSpPr/>
          <p:nvPr/>
        </p:nvSpPr>
        <p:spPr>
          <a:xfrm>
            <a:off x="-73960" y="4817400"/>
            <a:ext cx="9252900" cy="326100"/>
          </a:xfrm>
          <a:prstGeom prst="rect">
            <a:avLst/>
          </a:prstGeom>
          <a:solidFill>
            <a:srgbClr val="FF931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58" name="Google Shape;58;p13"/>
          <p:cNvSpPr/>
          <p:nvPr/>
        </p:nvSpPr>
        <p:spPr>
          <a:xfrm rot="-5399803">
            <a:off x="-2456399" y="2363100"/>
            <a:ext cx="5230500" cy="339000"/>
          </a:xfrm>
          <a:prstGeom prst="rect">
            <a:avLst/>
          </a:prstGeom>
          <a:solidFill>
            <a:srgbClr val="7AC9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59" name="Google Shape;59;p13"/>
          <p:cNvSpPr/>
          <p:nvPr/>
        </p:nvSpPr>
        <p:spPr>
          <a:xfrm rot="-5399803">
            <a:off x="6359100" y="2341347"/>
            <a:ext cx="5230500" cy="339000"/>
          </a:xfrm>
          <a:prstGeom prst="rect">
            <a:avLst/>
          </a:prstGeom>
          <a:solidFill>
            <a:srgbClr val="3FA9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idx="1" type="body"/>
          </p:nvPr>
        </p:nvSpPr>
        <p:spPr>
          <a:xfrm>
            <a:off x="311700" y="863550"/>
            <a:ext cx="8520600" cy="3416400"/>
          </a:xfrm>
          <a:prstGeom prst="rect">
            <a:avLst/>
          </a:prstGeom>
        </p:spPr>
        <p:txBody>
          <a:bodyPr anchorCtr="0" anchor="t" bIns="91425" lIns="91425" spcFirstLastPara="1" rIns="91425" wrap="square" tIns="91425">
            <a:normAutofit/>
          </a:bodyPr>
          <a:lstStyle/>
          <a:p>
            <a:pPr indent="0" lvl="0" marL="0" rtl="0" algn="ctr">
              <a:spcBef>
                <a:spcPts val="1800"/>
              </a:spcBef>
              <a:spcAft>
                <a:spcPts val="0"/>
              </a:spcAft>
              <a:buNone/>
            </a:pPr>
            <a:r>
              <a:rPr b="1" lang="en" sz="1700">
                <a:solidFill>
                  <a:schemeClr val="dk1"/>
                </a:solidFill>
              </a:rPr>
              <a:t>Website Overview</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200">
                <a:solidFill>
                  <a:schemeClr val="dk1"/>
                </a:solidFill>
              </a:rPr>
              <a:t>This website will serve as a platform to showcase my artwork to the world. My goal is for it to function not only as a portfolio but also as a creative space where others can view, appreciate, and engage with my work. I want visitors, especially other artists to be able to comment on and like my art, helping me identify my strengths, such as character design, and continue growing as an artist.</a:t>
            </a:r>
            <a:endParaRPr sz="1200">
              <a:solidFill>
                <a:schemeClr val="dk1"/>
              </a:solidFill>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0" lvl="0" marL="0" rtl="0" algn="ctr">
              <a:spcBef>
                <a:spcPts val="1800"/>
              </a:spcBef>
              <a:spcAft>
                <a:spcPts val="0"/>
              </a:spcAft>
              <a:buClr>
                <a:schemeClr val="dk1"/>
              </a:buClr>
              <a:buSzPts val="1100"/>
              <a:buFont typeface="Arial"/>
              <a:buNone/>
            </a:pPr>
            <a:r>
              <a:rPr b="1" lang="en" sz="1700">
                <a:solidFill>
                  <a:schemeClr val="dk1"/>
                </a:solidFill>
              </a:rPr>
              <a:t>Purpose Statement</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200">
                <a:solidFill>
                  <a:schemeClr val="dk1"/>
                </a:solidFill>
              </a:rPr>
              <a:t>The purpose of this website is to represent my identity as an artist by providing a space where my work can be displayed, critiqued, and shared with others.</a:t>
            </a:r>
            <a:endParaRPr sz="12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Audience</a:t>
            </a:r>
            <a:endParaRPr/>
          </a:p>
        </p:txBody>
      </p:sp>
      <p:sp>
        <p:nvSpPr>
          <p:cNvPr id="70" name="Google Shape;70;p15"/>
          <p:cNvSpPr txBox="1"/>
          <p:nvPr>
            <p:ph idx="1" type="body"/>
          </p:nvPr>
        </p:nvSpPr>
        <p:spPr>
          <a:xfrm>
            <a:off x="1665750" y="1466700"/>
            <a:ext cx="5812500" cy="2210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Aspiring digital artists seeking inspiration</a:t>
            </a:r>
            <a:br>
              <a:rPr lang="en"/>
            </a:br>
            <a:endParaRPr/>
          </a:p>
          <a:p>
            <a:pPr indent="-342900" lvl="0" marL="457200" rtl="0" algn="l">
              <a:spcBef>
                <a:spcPts val="0"/>
              </a:spcBef>
              <a:spcAft>
                <a:spcPts val="0"/>
              </a:spcAft>
              <a:buSzPts val="1800"/>
              <a:buChar char="●"/>
            </a:pPr>
            <a:r>
              <a:rPr lang="en"/>
              <a:t>Potential collaborators or clients in animation</a:t>
            </a:r>
            <a:br>
              <a:rPr lang="en"/>
            </a:br>
            <a:endParaRPr/>
          </a:p>
          <a:p>
            <a:pPr indent="-342900" lvl="0" marL="457200" rtl="0" algn="l">
              <a:spcBef>
                <a:spcPts val="0"/>
              </a:spcBef>
              <a:spcAft>
                <a:spcPts val="0"/>
              </a:spcAft>
              <a:buSzPts val="1800"/>
              <a:buChar char="●"/>
            </a:pPr>
            <a:r>
              <a:rPr lang="en"/>
              <a:t>Art enthusiasts who enjoy stylized character design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Logo</a:t>
            </a:r>
            <a:endParaRPr/>
          </a:p>
        </p:txBody>
      </p:sp>
      <p:pic>
        <p:nvPicPr>
          <p:cNvPr id="76" name="Google Shape;76;p16" title="LOGO_WebsiteDesign_JostinNevarez-01.png"/>
          <p:cNvPicPr preferRelativeResize="0"/>
          <p:nvPr/>
        </p:nvPicPr>
        <p:blipFill>
          <a:blip r:embed="rId3">
            <a:alphaModFix/>
          </a:blip>
          <a:stretch>
            <a:fillRect/>
          </a:stretch>
        </p:blipFill>
        <p:spPr>
          <a:xfrm>
            <a:off x="5134775" y="1074488"/>
            <a:ext cx="3820974" cy="3820974"/>
          </a:xfrm>
          <a:prstGeom prst="rect">
            <a:avLst/>
          </a:prstGeom>
          <a:noFill/>
          <a:ln>
            <a:noFill/>
          </a:ln>
        </p:spPr>
      </p:pic>
      <p:sp>
        <p:nvSpPr>
          <p:cNvPr id="77" name="Google Shape;77;p16"/>
          <p:cNvSpPr txBox="1"/>
          <p:nvPr/>
        </p:nvSpPr>
        <p:spPr>
          <a:xfrm>
            <a:off x="3449450" y="1320125"/>
            <a:ext cx="4620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800">
                <a:solidFill>
                  <a:schemeClr val="dk2"/>
                </a:solidFill>
              </a:rPr>
              <a:t>j</a:t>
            </a:r>
            <a:endParaRPr sz="16800">
              <a:solidFill>
                <a:schemeClr val="dk2"/>
              </a:solidFill>
            </a:endParaRPr>
          </a:p>
        </p:txBody>
      </p:sp>
      <p:cxnSp>
        <p:nvCxnSpPr>
          <p:cNvPr id="78" name="Google Shape;78;p16"/>
          <p:cNvCxnSpPr/>
          <p:nvPr/>
        </p:nvCxnSpPr>
        <p:spPr>
          <a:xfrm>
            <a:off x="4080000" y="3070875"/>
            <a:ext cx="782700" cy="0"/>
          </a:xfrm>
          <a:prstGeom prst="straightConnector1">
            <a:avLst/>
          </a:prstGeom>
          <a:noFill/>
          <a:ln cap="flat" cmpd="sng" w="38100">
            <a:solidFill>
              <a:srgbClr val="FF0000"/>
            </a:solidFill>
            <a:prstDash val="solid"/>
            <a:round/>
            <a:headEnd len="med" w="med" type="none"/>
            <a:tailEnd len="med" w="med" type="triangle"/>
          </a:ln>
        </p:spPr>
      </p:cxnSp>
      <p:sp>
        <p:nvSpPr>
          <p:cNvPr id="79" name="Google Shape;79;p16"/>
          <p:cNvSpPr/>
          <p:nvPr/>
        </p:nvSpPr>
        <p:spPr>
          <a:xfrm>
            <a:off x="5069550" y="972150"/>
            <a:ext cx="3821100" cy="3821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0" name="Google Shape;80;p16" title="20251026_233259.jpg"/>
          <p:cNvPicPr preferRelativeResize="0"/>
          <p:nvPr/>
        </p:nvPicPr>
        <p:blipFill rotWithShape="1">
          <a:blip r:embed="rId4">
            <a:alphaModFix/>
          </a:blip>
          <a:srcRect b="40642" l="35655" r="4438" t="2195"/>
          <a:stretch/>
        </p:blipFill>
        <p:spPr>
          <a:xfrm>
            <a:off x="409550" y="1622900"/>
            <a:ext cx="2854899" cy="27241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7" title="LOGO_WebsiteDesign_JostinNevarez-01.png"/>
          <p:cNvPicPr preferRelativeResize="0"/>
          <p:nvPr/>
        </p:nvPicPr>
        <p:blipFill>
          <a:blip r:embed="rId3">
            <a:alphaModFix/>
          </a:blip>
          <a:stretch>
            <a:fillRect/>
          </a:stretch>
        </p:blipFill>
        <p:spPr>
          <a:xfrm>
            <a:off x="-269800" y="-342762"/>
            <a:ext cx="4838702" cy="4838702"/>
          </a:xfrm>
          <a:prstGeom prst="rect">
            <a:avLst/>
          </a:prstGeom>
          <a:noFill/>
          <a:ln>
            <a:noFill/>
          </a:ln>
        </p:spPr>
      </p:pic>
      <p:pic>
        <p:nvPicPr>
          <p:cNvPr id="86" name="Google Shape;86;p17" title="LOGO_WebsiteDesign_JostinNevarez-02.png"/>
          <p:cNvPicPr preferRelativeResize="0"/>
          <p:nvPr/>
        </p:nvPicPr>
        <p:blipFill rotWithShape="1">
          <a:blip r:embed="rId4">
            <a:alphaModFix/>
          </a:blip>
          <a:srcRect b="3050" l="8760" r="-8759" t="-3050"/>
          <a:stretch/>
        </p:blipFill>
        <p:spPr>
          <a:xfrm>
            <a:off x="2562176" y="2782900"/>
            <a:ext cx="2518001" cy="2518001"/>
          </a:xfrm>
          <a:prstGeom prst="rect">
            <a:avLst/>
          </a:prstGeom>
          <a:noFill/>
          <a:ln>
            <a:noFill/>
          </a:ln>
        </p:spPr>
      </p:pic>
      <p:pic>
        <p:nvPicPr>
          <p:cNvPr id="87" name="Google Shape;87;p17" title="LOGO_WebsiteDesign_JostinNevarez-03.png"/>
          <p:cNvPicPr preferRelativeResize="0"/>
          <p:nvPr/>
        </p:nvPicPr>
        <p:blipFill>
          <a:blip r:embed="rId5">
            <a:alphaModFix/>
          </a:blip>
          <a:stretch>
            <a:fillRect/>
          </a:stretch>
        </p:blipFill>
        <p:spPr>
          <a:xfrm>
            <a:off x="3801975" y="1109300"/>
            <a:ext cx="2236698" cy="2236698"/>
          </a:xfrm>
          <a:prstGeom prst="rect">
            <a:avLst/>
          </a:prstGeom>
          <a:noFill/>
          <a:ln>
            <a:noFill/>
          </a:ln>
        </p:spPr>
      </p:pic>
      <p:pic>
        <p:nvPicPr>
          <p:cNvPr id="88" name="Google Shape;88;p17" title="LOGO_WebsiteDesign_JostinNevarez-04.png"/>
          <p:cNvPicPr preferRelativeResize="0"/>
          <p:nvPr/>
        </p:nvPicPr>
        <p:blipFill>
          <a:blip r:embed="rId6">
            <a:alphaModFix/>
          </a:blip>
          <a:stretch>
            <a:fillRect/>
          </a:stretch>
        </p:blipFill>
        <p:spPr>
          <a:xfrm>
            <a:off x="7414775" y="1707137"/>
            <a:ext cx="1729224" cy="1729224"/>
          </a:xfrm>
          <a:prstGeom prst="rect">
            <a:avLst/>
          </a:prstGeom>
          <a:noFill/>
          <a:ln>
            <a:noFill/>
          </a:ln>
        </p:spPr>
      </p:pic>
      <p:pic>
        <p:nvPicPr>
          <p:cNvPr id="89" name="Google Shape;89;p17" title="LOGO_WebsiteDesign_JostinNevarez-05.png"/>
          <p:cNvPicPr preferRelativeResize="0"/>
          <p:nvPr/>
        </p:nvPicPr>
        <p:blipFill>
          <a:blip r:embed="rId7">
            <a:alphaModFix/>
          </a:blip>
          <a:stretch>
            <a:fillRect/>
          </a:stretch>
        </p:blipFill>
        <p:spPr>
          <a:xfrm>
            <a:off x="7414775" y="3414275"/>
            <a:ext cx="1729224" cy="1729224"/>
          </a:xfrm>
          <a:prstGeom prst="rect">
            <a:avLst/>
          </a:prstGeom>
          <a:noFill/>
          <a:ln>
            <a:noFill/>
          </a:ln>
        </p:spPr>
      </p:pic>
      <p:pic>
        <p:nvPicPr>
          <p:cNvPr id="90" name="Google Shape;90;p17" title="LOGO_WebsiteDesign_JostinNevarez-06.png"/>
          <p:cNvPicPr preferRelativeResize="0"/>
          <p:nvPr/>
        </p:nvPicPr>
        <p:blipFill>
          <a:blip r:embed="rId8">
            <a:alphaModFix/>
          </a:blip>
          <a:stretch>
            <a:fillRect/>
          </a:stretch>
        </p:blipFill>
        <p:spPr>
          <a:xfrm>
            <a:off x="7554025" y="1"/>
            <a:ext cx="1729224" cy="1729224"/>
          </a:xfrm>
          <a:prstGeom prst="rect">
            <a:avLst/>
          </a:prstGeom>
          <a:noFill/>
          <a:ln>
            <a:noFill/>
          </a:ln>
        </p:spPr>
      </p:pic>
      <p:pic>
        <p:nvPicPr>
          <p:cNvPr id="91" name="Google Shape;91;p17" title="LOGO_WebsiteDesign_JostinNevarez-07.png"/>
          <p:cNvPicPr preferRelativeResize="0"/>
          <p:nvPr/>
        </p:nvPicPr>
        <p:blipFill>
          <a:blip r:embed="rId9">
            <a:alphaModFix/>
          </a:blip>
          <a:stretch>
            <a:fillRect/>
          </a:stretch>
        </p:blipFill>
        <p:spPr>
          <a:xfrm>
            <a:off x="6220150" y="1707138"/>
            <a:ext cx="1729224" cy="1729224"/>
          </a:xfrm>
          <a:prstGeom prst="rect">
            <a:avLst/>
          </a:prstGeom>
          <a:noFill/>
          <a:ln>
            <a:noFill/>
          </a:ln>
        </p:spPr>
      </p:pic>
      <p:pic>
        <p:nvPicPr>
          <p:cNvPr id="92" name="Google Shape;92;p17" title="LOGO_WebsiteDesign_JostinNevarez-08.png"/>
          <p:cNvPicPr preferRelativeResize="0"/>
          <p:nvPr/>
        </p:nvPicPr>
        <p:blipFill>
          <a:blip r:embed="rId10">
            <a:alphaModFix/>
          </a:blip>
          <a:stretch>
            <a:fillRect/>
          </a:stretch>
        </p:blipFill>
        <p:spPr>
          <a:xfrm>
            <a:off x="6220150" y="0"/>
            <a:ext cx="1729224" cy="1729224"/>
          </a:xfrm>
          <a:prstGeom prst="rect">
            <a:avLst/>
          </a:prstGeom>
          <a:noFill/>
          <a:ln>
            <a:noFill/>
          </a:ln>
        </p:spPr>
      </p:pic>
      <p:pic>
        <p:nvPicPr>
          <p:cNvPr id="93" name="Google Shape;93;p17" title="LOGO_WebsiteDesign_JostinNevarez-09.png"/>
          <p:cNvPicPr preferRelativeResize="0"/>
          <p:nvPr/>
        </p:nvPicPr>
        <p:blipFill>
          <a:blip r:embed="rId11">
            <a:alphaModFix/>
          </a:blip>
          <a:stretch>
            <a:fillRect/>
          </a:stretch>
        </p:blipFill>
        <p:spPr>
          <a:xfrm>
            <a:off x="6220150" y="3346000"/>
            <a:ext cx="1729224" cy="1729224"/>
          </a:xfrm>
          <a:prstGeom prst="rect">
            <a:avLst/>
          </a:prstGeom>
          <a:noFill/>
          <a:ln>
            <a:noFill/>
          </a:ln>
        </p:spPr>
      </p:pic>
      <p:cxnSp>
        <p:nvCxnSpPr>
          <p:cNvPr id="94" name="Google Shape;94;p17"/>
          <p:cNvCxnSpPr/>
          <p:nvPr/>
        </p:nvCxnSpPr>
        <p:spPr>
          <a:xfrm flipH="1">
            <a:off x="6095425" y="-5750"/>
            <a:ext cx="9600" cy="5181900"/>
          </a:xfrm>
          <a:prstGeom prst="straightConnector1">
            <a:avLst/>
          </a:prstGeom>
          <a:noFill/>
          <a:ln cap="flat" cmpd="sng" w="76200">
            <a:solidFill>
              <a:schemeClr val="dk2"/>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Color Palate</a:t>
            </a:r>
            <a:endParaRPr/>
          </a:p>
        </p:txBody>
      </p:sp>
      <p:pic>
        <p:nvPicPr>
          <p:cNvPr id="100" name="Google Shape;100;p18" title="Color_Palate.gif"/>
          <p:cNvPicPr preferRelativeResize="0"/>
          <p:nvPr/>
        </p:nvPicPr>
        <p:blipFill>
          <a:blip r:embed="rId3">
            <a:alphaModFix/>
          </a:blip>
          <a:stretch>
            <a:fillRect/>
          </a:stretch>
        </p:blipFill>
        <p:spPr>
          <a:xfrm>
            <a:off x="152400" y="1170125"/>
            <a:ext cx="3820976" cy="3820976"/>
          </a:xfrm>
          <a:prstGeom prst="rect">
            <a:avLst/>
          </a:prstGeom>
          <a:noFill/>
          <a:ln>
            <a:noFill/>
          </a:ln>
        </p:spPr>
      </p:pic>
      <p:sp>
        <p:nvSpPr>
          <p:cNvPr id="101" name="Google Shape;101;p18"/>
          <p:cNvSpPr txBox="1"/>
          <p:nvPr/>
        </p:nvSpPr>
        <p:spPr>
          <a:xfrm>
            <a:off x="4797700" y="1309250"/>
            <a:ext cx="4175700" cy="7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To </a:t>
            </a:r>
            <a:r>
              <a:rPr lang="en" sz="1800">
                <a:solidFill>
                  <a:schemeClr val="dk2"/>
                </a:solidFill>
              </a:rPr>
              <a:t>incorporate</a:t>
            </a:r>
            <a:r>
              <a:rPr lang="en" sz="1800">
                <a:solidFill>
                  <a:schemeClr val="dk2"/>
                </a:solidFill>
              </a:rPr>
              <a:t> the </a:t>
            </a:r>
            <a:r>
              <a:rPr lang="en" sz="1800">
                <a:solidFill>
                  <a:schemeClr val="dk2"/>
                </a:solidFill>
              </a:rPr>
              <a:t>uniqueness</a:t>
            </a:r>
            <a:r>
              <a:rPr lang="en" sz="1800">
                <a:solidFill>
                  <a:schemeClr val="dk2"/>
                </a:solidFill>
              </a:rPr>
              <a:t> of the logo and its colors, I implemented the colors into the websites color palate to introduce a more harmonious color choice.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The Main colors are simple using black white and grey for backround and navegation colors throughout the website, but it is complimented by four bright colors that break the greyscale of the website making it fun to look at.</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nvSpPr>
        <p:spPr>
          <a:xfrm>
            <a:off x="3072000" y="2263950"/>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dk1"/>
                </a:solidFill>
              </a:rPr>
              <a:t>Site’s Grid</a:t>
            </a:r>
            <a:endParaRPr sz="2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 name="Shape 110"/>
        <p:cNvGrpSpPr/>
        <p:nvPr/>
      </p:nvGrpSpPr>
      <p:grpSpPr>
        <a:xfrm>
          <a:off x="0" y="0"/>
          <a:ext cx="0" cy="0"/>
          <a:chOff x="0" y="0"/>
          <a:chExt cx="0" cy="0"/>
        </a:xfrm>
      </p:grpSpPr>
      <p:pic>
        <p:nvPicPr>
          <p:cNvPr id="111" name="Google Shape;111;p20" title="MAIN PAGE.png"/>
          <p:cNvPicPr preferRelativeResize="0"/>
          <p:nvPr/>
        </p:nvPicPr>
        <p:blipFill>
          <a:blip r:embed="rId3">
            <a:alphaModFix/>
          </a:blip>
          <a:stretch>
            <a:fillRect/>
          </a:stretch>
        </p:blipFill>
        <p:spPr>
          <a:xfrm>
            <a:off x="152400" y="152400"/>
            <a:ext cx="8602133" cy="4838700"/>
          </a:xfrm>
          <a:prstGeom prst="rect">
            <a:avLst/>
          </a:prstGeom>
          <a:noFill/>
          <a:ln>
            <a:noFill/>
          </a:ln>
        </p:spPr>
      </p:pic>
    </p:spTree>
  </p:cSld>
  <p:clrMapOvr>
    <a:masterClrMapping/>
  </p:clrMapOvr>
  <mc:AlternateContent>
    <mc:Choice Requires="p14">
      <p:transition spd="slow" p14:dur="41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HOMEPAGE_GRID.jpg"/>
          <p:cNvPicPr preferRelativeResize="0"/>
          <p:nvPr/>
        </p:nvPicPr>
        <p:blipFill>
          <a:blip r:embed="rId3">
            <a:alphaModFix/>
          </a:blip>
          <a:stretch>
            <a:fillRect/>
          </a:stretch>
        </p:blipFill>
        <p:spPr>
          <a:xfrm>
            <a:off x="152400" y="152400"/>
            <a:ext cx="8569472" cy="48386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 name="Shape 120"/>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3" title="COMMUNITY_GRID.jpg"/>
          <p:cNvPicPr preferRelativeResize="0"/>
          <p:nvPr/>
        </p:nvPicPr>
        <p:blipFill>
          <a:blip r:embed="rId3">
            <a:alphaModFix/>
          </a:blip>
          <a:stretch>
            <a:fillRect/>
          </a:stretch>
        </p:blipFill>
        <p:spPr>
          <a:xfrm>
            <a:off x="152400" y="152400"/>
            <a:ext cx="8571622" cy="48386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pic>
        <p:nvPicPr>
          <p:cNvPr id="130" name="Google Shape;130;p24" title="PORTFOLIO.png"/>
          <p:cNvPicPr preferRelativeResize="0"/>
          <p:nvPr/>
        </p:nvPicPr>
        <p:blipFill>
          <a:blip r:embed="rId4">
            <a:alphaModFix/>
          </a:blip>
          <a:stretch>
            <a:fillRect/>
          </a:stretch>
        </p:blipFill>
        <p:spPr>
          <a:xfrm>
            <a:off x="0" y="0"/>
            <a:ext cx="9144000" cy="5143500"/>
          </a:xfrm>
          <a:prstGeom prst="rect">
            <a:avLst/>
          </a:prstGeom>
          <a:noFill/>
          <a:ln>
            <a:noFill/>
          </a:ln>
        </p:spPr>
      </p:pic>
      <p:pic>
        <p:nvPicPr>
          <p:cNvPr id="131" name="Google Shape;131;p24" title="Nevarez_Jostin_P4P3.gif"/>
          <p:cNvPicPr preferRelativeResize="0"/>
          <p:nvPr/>
        </p:nvPicPr>
        <p:blipFill>
          <a:blip r:embed="rId5">
            <a:alphaModFix/>
          </a:blip>
          <a:stretch>
            <a:fillRect/>
          </a:stretch>
        </p:blipFill>
        <p:spPr>
          <a:xfrm>
            <a:off x="4987973" y="3995178"/>
            <a:ext cx="1495175" cy="1495175"/>
          </a:xfrm>
          <a:prstGeom prst="rect">
            <a:avLst/>
          </a:prstGeom>
          <a:noFill/>
          <a:ln>
            <a:noFill/>
          </a:ln>
        </p:spPr>
      </p:pic>
      <p:pic>
        <p:nvPicPr>
          <p:cNvPr id="132" name="Google Shape;132;p24" title="Nevarez_Jostin_P3P1_2.gif"/>
          <p:cNvPicPr preferRelativeResize="0"/>
          <p:nvPr/>
        </p:nvPicPr>
        <p:blipFill>
          <a:blip r:embed="rId6">
            <a:alphaModFix/>
          </a:blip>
          <a:stretch>
            <a:fillRect/>
          </a:stretch>
        </p:blipFill>
        <p:spPr>
          <a:xfrm>
            <a:off x="4987973" y="1004800"/>
            <a:ext cx="1495174" cy="1495176"/>
          </a:xfrm>
          <a:prstGeom prst="rect">
            <a:avLst/>
          </a:prstGeom>
          <a:noFill/>
          <a:ln>
            <a:noFill/>
          </a:ln>
        </p:spPr>
      </p:pic>
      <p:pic>
        <p:nvPicPr>
          <p:cNvPr id="133" name="Google Shape;133;p24" title="Nevarez_Jostin_P3P1.gif"/>
          <p:cNvPicPr preferRelativeResize="0"/>
          <p:nvPr/>
        </p:nvPicPr>
        <p:blipFill>
          <a:blip r:embed="rId3">
            <a:alphaModFix/>
          </a:blip>
          <a:stretch>
            <a:fillRect/>
          </a:stretch>
        </p:blipFill>
        <p:spPr>
          <a:xfrm>
            <a:off x="4987975" y="2499975"/>
            <a:ext cx="1495174" cy="14951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 name="Shape 141"/>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7" title="ABOUT_ME_GRID.jpg"/>
          <p:cNvPicPr preferRelativeResize="0"/>
          <p:nvPr/>
        </p:nvPicPr>
        <p:blipFill>
          <a:blip r:embed="rId3">
            <a:alphaModFix/>
          </a:blip>
          <a:stretch>
            <a:fillRect/>
          </a:stretch>
        </p:blipFill>
        <p:spPr>
          <a:xfrm>
            <a:off x="0" y="15263"/>
            <a:ext cx="9144000" cy="51282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Typography</a:t>
            </a:r>
            <a:endParaRPr/>
          </a:p>
        </p:txBody>
      </p:sp>
      <p:sp>
        <p:nvSpPr>
          <p:cNvPr id="152" name="Google Shape;152;p28"/>
          <p:cNvSpPr txBox="1"/>
          <p:nvPr>
            <p:ph idx="1" type="body"/>
          </p:nvPr>
        </p:nvSpPr>
        <p:spPr>
          <a:xfrm>
            <a:off x="311700" y="1152475"/>
            <a:ext cx="4133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600">
                <a:solidFill>
                  <a:srgbClr val="000000"/>
                </a:solidFill>
                <a:latin typeface="Calibri"/>
                <a:ea typeface="Calibri"/>
                <a:cs typeface="Calibri"/>
                <a:sym typeface="Calibri"/>
              </a:rPr>
              <a:t>H1: Calibri Bold, 106px</a:t>
            </a:r>
            <a:endParaRPr b="1" sz="3600">
              <a:solidFill>
                <a:srgbClr val="000000"/>
              </a:solidFill>
              <a:latin typeface="Calibri"/>
              <a:ea typeface="Calibri"/>
              <a:cs typeface="Calibri"/>
              <a:sym typeface="Calibri"/>
            </a:endParaRPr>
          </a:p>
          <a:p>
            <a:pPr indent="0" lvl="0" marL="0" rtl="0" algn="l">
              <a:spcBef>
                <a:spcPts val="1200"/>
              </a:spcBef>
              <a:spcAft>
                <a:spcPts val="0"/>
              </a:spcAft>
              <a:buNone/>
            </a:pPr>
            <a:r>
              <a:rPr lang="en" sz="3000">
                <a:solidFill>
                  <a:srgbClr val="000000"/>
                </a:solidFill>
                <a:latin typeface="Calibri"/>
                <a:ea typeface="Calibri"/>
                <a:cs typeface="Calibri"/>
                <a:sym typeface="Calibri"/>
              </a:rPr>
              <a:t>H2: Calibri Light, 56px</a:t>
            </a:r>
            <a:endParaRPr sz="3000">
              <a:solidFill>
                <a:srgbClr val="000000"/>
              </a:solidFill>
              <a:latin typeface="Calibri"/>
              <a:ea typeface="Calibri"/>
              <a:cs typeface="Calibri"/>
              <a:sym typeface="Calibri"/>
            </a:endParaRPr>
          </a:p>
          <a:p>
            <a:pPr indent="0" lvl="0" marL="0" rtl="0" algn="l">
              <a:spcBef>
                <a:spcPts val="1200"/>
              </a:spcBef>
              <a:spcAft>
                <a:spcPts val="1200"/>
              </a:spcAft>
              <a:buNone/>
            </a:pPr>
            <a:r>
              <a:rPr lang="en" sz="1600">
                <a:solidFill>
                  <a:srgbClr val="000000"/>
                </a:solidFill>
                <a:latin typeface="Calibri"/>
                <a:ea typeface="Calibri"/>
                <a:cs typeface="Calibri"/>
                <a:sym typeface="Calibri"/>
              </a:rPr>
              <a:t>H3: Calibri light, 38px</a:t>
            </a:r>
            <a:endParaRPr sz="1600">
              <a:solidFill>
                <a:srgbClr val="000000"/>
              </a:solidFill>
              <a:latin typeface="Calibri"/>
              <a:ea typeface="Calibri"/>
              <a:cs typeface="Calibri"/>
              <a:sym typeface="Calibri"/>
            </a:endParaRPr>
          </a:p>
        </p:txBody>
      </p:sp>
      <p:sp>
        <p:nvSpPr>
          <p:cNvPr id="153" name="Google Shape;153;p28"/>
          <p:cNvSpPr txBox="1"/>
          <p:nvPr>
            <p:ph idx="1" type="body"/>
          </p:nvPr>
        </p:nvSpPr>
        <p:spPr>
          <a:xfrm>
            <a:off x="4444800" y="1152475"/>
            <a:ext cx="4008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600">
                <a:solidFill>
                  <a:srgbClr val="000000"/>
                </a:solidFill>
                <a:latin typeface="Calibri"/>
                <a:ea typeface="Calibri"/>
                <a:cs typeface="Calibri"/>
                <a:sym typeface="Calibri"/>
              </a:rPr>
              <a:t>B1: Calibri </a:t>
            </a:r>
            <a:r>
              <a:rPr b="1" lang="en" sz="3600">
                <a:solidFill>
                  <a:srgbClr val="000000"/>
                </a:solidFill>
                <a:latin typeface="Calibri"/>
                <a:ea typeface="Calibri"/>
                <a:cs typeface="Calibri"/>
                <a:sym typeface="Calibri"/>
              </a:rPr>
              <a:t>light</a:t>
            </a:r>
            <a:r>
              <a:rPr b="1" lang="en" sz="3600">
                <a:solidFill>
                  <a:srgbClr val="000000"/>
                </a:solidFill>
                <a:latin typeface="Calibri"/>
                <a:ea typeface="Calibri"/>
                <a:cs typeface="Calibri"/>
                <a:sym typeface="Calibri"/>
              </a:rPr>
              <a:t>, 23px</a:t>
            </a:r>
            <a:endParaRPr b="1" sz="3600">
              <a:solidFill>
                <a:srgbClr val="000000"/>
              </a:solidFill>
              <a:latin typeface="Calibri"/>
              <a:ea typeface="Calibri"/>
              <a:cs typeface="Calibri"/>
              <a:sym typeface="Calibri"/>
            </a:endParaRPr>
          </a:p>
          <a:p>
            <a:pPr indent="0" lvl="0" marL="0" rtl="0" algn="l">
              <a:spcBef>
                <a:spcPts val="1200"/>
              </a:spcBef>
              <a:spcAft>
                <a:spcPts val="0"/>
              </a:spcAft>
              <a:buNone/>
            </a:pPr>
            <a:r>
              <a:rPr lang="en" sz="2600">
                <a:solidFill>
                  <a:srgbClr val="000000"/>
                </a:solidFill>
                <a:latin typeface="Calibri"/>
                <a:ea typeface="Calibri"/>
                <a:cs typeface="Calibri"/>
                <a:sym typeface="Calibri"/>
              </a:rPr>
              <a:t>B2</a:t>
            </a:r>
            <a:r>
              <a:rPr lang="en" sz="2600">
                <a:solidFill>
                  <a:srgbClr val="000000"/>
                </a:solidFill>
                <a:latin typeface="Calibri"/>
                <a:ea typeface="Calibri"/>
                <a:cs typeface="Calibri"/>
                <a:sym typeface="Calibri"/>
              </a:rPr>
              <a:t>: Calibri Bold Italic, 33px</a:t>
            </a:r>
            <a:endParaRPr sz="2600">
              <a:solidFill>
                <a:srgbClr val="000000"/>
              </a:solidFill>
              <a:latin typeface="Calibri"/>
              <a:ea typeface="Calibri"/>
              <a:cs typeface="Calibri"/>
              <a:sym typeface="Calibri"/>
            </a:endParaRPr>
          </a:p>
          <a:p>
            <a:pPr indent="0" lvl="0" marL="0" rtl="0" algn="l">
              <a:spcBef>
                <a:spcPts val="1200"/>
              </a:spcBef>
              <a:spcAft>
                <a:spcPts val="1200"/>
              </a:spcAft>
              <a:buNone/>
            </a:pPr>
            <a:r>
              <a:t/>
            </a:r>
            <a:endParaRPr sz="1600">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11700" y="4341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Site Elements and Asset Rules</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pic>
        <p:nvPicPr>
          <p:cNvPr id="159" name="Google Shape;159;p29"/>
          <p:cNvPicPr preferRelativeResize="0"/>
          <p:nvPr/>
        </p:nvPicPr>
        <p:blipFill>
          <a:blip r:embed="rId3">
            <a:alphaModFix/>
          </a:blip>
          <a:stretch>
            <a:fillRect/>
          </a:stretch>
        </p:blipFill>
        <p:spPr>
          <a:xfrm>
            <a:off x="1505475" y="874525"/>
            <a:ext cx="5810250" cy="4029075"/>
          </a:xfrm>
          <a:prstGeom prst="rect">
            <a:avLst/>
          </a:prstGeom>
          <a:noFill/>
          <a:ln>
            <a:noFill/>
          </a:ln>
        </p:spPr>
      </p:pic>
      <p:sp>
        <p:nvSpPr>
          <p:cNvPr id="160" name="Google Shape;160;p29"/>
          <p:cNvSpPr/>
          <p:nvPr/>
        </p:nvSpPr>
        <p:spPr>
          <a:xfrm>
            <a:off x="6517650" y="1260925"/>
            <a:ext cx="798000" cy="259200"/>
          </a:xfrm>
          <a:prstGeom prst="mathMultiply">
            <a:avLst>
              <a:gd fmla="val 23520" name="adj1"/>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